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OpenSans-boldItalic.fntdata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3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3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3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3"/>
          <p:cNvGrpSpPr/>
          <p:nvPr/>
        </p:nvGrpSpPr>
        <p:grpSpPr>
          <a:xfrm>
            <a:off x="927175" y="30011223"/>
            <a:ext cx="13848535" cy="8125824"/>
            <a:chOff x="0" y="-47625"/>
            <a:chExt cx="1302166" cy="868357"/>
          </a:xfrm>
        </p:grpSpPr>
        <p:sp>
          <p:nvSpPr>
            <p:cNvPr id="107" name="Google Shape;107;p13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3"/>
          <p:cNvGrpSpPr/>
          <p:nvPr/>
        </p:nvGrpSpPr>
        <p:grpSpPr>
          <a:xfrm>
            <a:off x="15403300" y="30062316"/>
            <a:ext cx="12527629" cy="8074891"/>
            <a:chOff x="0" y="-314078"/>
            <a:chExt cx="8764870" cy="5685342"/>
          </a:xfrm>
        </p:grpSpPr>
        <p:grpSp>
          <p:nvGrpSpPr>
            <p:cNvPr id="110" name="Google Shape;110;p13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3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3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3"/>
            <p:cNvSpPr txBox="1"/>
            <p:nvPr/>
          </p:nvSpPr>
          <p:spPr>
            <a:xfrm>
              <a:off x="1064599" y="235141"/>
              <a:ext cx="6635700" cy="5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3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3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3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3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3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3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-1" y="47001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i="0" lang="en-US" sz="11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b="1" lang="en-US" sz="11434">
                <a:latin typeface="Open Sans"/>
                <a:ea typeface="Open Sans"/>
                <a:cs typeface="Open Sans"/>
                <a:sym typeface="Open Sans"/>
              </a:rPr>
              <a:t>rojeto Messier Data &amp; Creative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927175" y="6355575"/>
            <a:ext cx="268593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Lucas Kazuo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Henrique Bezerra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Pedro H Barros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Vitor Ordonis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Katia Bossi, Francisco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Escobar, Robsom, Renata Muniz, Marcelo Amorim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5353293" y="23110704"/>
            <a:ext cx="1243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15966975" y="31719851"/>
            <a:ext cx="11400000" cy="20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Referência: MICROSOFT. Documentação do .NET: C#, F# e Visual Basic. Disponível em: https://learn.microsoft.com/pt-br/dotnet/.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1595875" y="31719850"/>
            <a:ext cx="12562800" cy="6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450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030"/>
              <a:buFont typeface="Open Sans"/>
              <a:buChar char="-"/>
            </a:pPr>
            <a:r>
              <a:rPr lang="en-US" sz="4030">
                <a:latin typeface="Open Sans"/>
                <a:ea typeface="Open Sans"/>
                <a:cs typeface="Open Sans"/>
                <a:sym typeface="Open Sans"/>
              </a:rPr>
              <a:t>Linguagem/Plataforma: C# (.NET);</a:t>
            </a:r>
            <a:endParaRPr sz="4030">
              <a:latin typeface="Open Sans"/>
              <a:ea typeface="Open Sans"/>
              <a:cs typeface="Open Sans"/>
              <a:sym typeface="Open Sans"/>
            </a:endParaRPr>
          </a:p>
          <a:p>
            <a:pPr indent="-48450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030"/>
              <a:buFont typeface="Open Sans"/>
              <a:buChar char="-"/>
            </a:pPr>
            <a:r>
              <a:rPr lang="en-US" sz="4030">
                <a:latin typeface="Open Sans"/>
                <a:ea typeface="Open Sans"/>
                <a:cs typeface="Open Sans"/>
                <a:sym typeface="Open Sans"/>
              </a:rPr>
              <a:t>Interface Desktop: WinForms;</a:t>
            </a:r>
            <a:endParaRPr sz="4030">
              <a:latin typeface="Open Sans"/>
              <a:ea typeface="Open Sans"/>
              <a:cs typeface="Open Sans"/>
              <a:sym typeface="Open Sans"/>
            </a:endParaRPr>
          </a:p>
          <a:p>
            <a:pPr indent="-48450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030"/>
              <a:buFont typeface="Open Sans"/>
              <a:buChar char="-"/>
            </a:pPr>
            <a:r>
              <a:rPr lang="en-US" sz="4030">
                <a:latin typeface="Open Sans"/>
                <a:ea typeface="Open Sans"/>
                <a:cs typeface="Open Sans"/>
                <a:sym typeface="Open Sans"/>
              </a:rPr>
              <a:t>Banco de Dados: SQLite;</a:t>
            </a:r>
            <a:endParaRPr sz="4030">
              <a:latin typeface="Open Sans"/>
              <a:ea typeface="Open Sans"/>
              <a:cs typeface="Open Sans"/>
              <a:sym typeface="Open Sans"/>
            </a:endParaRPr>
          </a:p>
          <a:p>
            <a:pPr indent="-48450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030"/>
              <a:buFont typeface="Open Sans"/>
              <a:buChar char="-"/>
            </a:pPr>
            <a:r>
              <a:rPr lang="en-US" sz="4030">
                <a:latin typeface="Open Sans"/>
                <a:ea typeface="Open Sans"/>
                <a:cs typeface="Open Sans"/>
                <a:sym typeface="Open Sans"/>
              </a:rPr>
              <a:t>Acesso a dados: ADO.NET;</a:t>
            </a:r>
            <a:endParaRPr sz="4030">
              <a:latin typeface="Open Sans"/>
              <a:ea typeface="Open Sans"/>
              <a:cs typeface="Open Sans"/>
              <a:sym typeface="Open Sans"/>
            </a:endParaRPr>
          </a:p>
          <a:p>
            <a:pPr indent="-48450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030"/>
              <a:buFont typeface="Open Sans"/>
              <a:buChar char="-"/>
            </a:pPr>
            <a:r>
              <a:rPr lang="en-US" sz="4030">
                <a:latin typeface="Open Sans"/>
                <a:ea typeface="Open Sans"/>
                <a:cs typeface="Open Sans"/>
                <a:sym typeface="Open Sans"/>
              </a:rPr>
              <a:t>Ferramentas de Modelagem: Draw.io;</a:t>
            </a:r>
            <a:endParaRPr sz="4030">
              <a:latin typeface="Open Sans"/>
              <a:ea typeface="Open Sans"/>
              <a:cs typeface="Open Sans"/>
              <a:sym typeface="Open Sans"/>
            </a:endParaRPr>
          </a:p>
          <a:p>
            <a:pPr indent="-48450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030"/>
              <a:buFont typeface="Open Sans"/>
              <a:buChar char="-"/>
            </a:pPr>
            <a:r>
              <a:rPr lang="en-US" sz="4030">
                <a:latin typeface="Open Sans"/>
                <a:ea typeface="Open Sans"/>
                <a:cs typeface="Open Sans"/>
                <a:sym typeface="Open Sans"/>
              </a:rPr>
              <a:t>Controle de Versão: Github;</a:t>
            </a:r>
            <a:endParaRPr sz="4030">
              <a:latin typeface="Open Sans"/>
              <a:ea typeface="Open Sans"/>
              <a:cs typeface="Open Sans"/>
              <a:sym typeface="Open Sans"/>
            </a:endParaRPr>
          </a:p>
          <a:p>
            <a:pPr indent="-48450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030"/>
              <a:buFont typeface="Open Sans"/>
              <a:buChar char="-"/>
            </a:pPr>
            <a:r>
              <a:rPr lang="en-US" sz="4030">
                <a:latin typeface="Open Sans"/>
                <a:ea typeface="Open Sans"/>
                <a:cs typeface="Open Sans"/>
                <a:sym typeface="Open Sans"/>
              </a:rPr>
              <a:t>Prototipação de interface: Figma, Canva;</a:t>
            </a:r>
            <a:endParaRPr sz="40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1595870" y="10749184"/>
            <a:ext cx="12562800" cy="7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Messier Data &amp; Creative, empresa de desenvolvimento de jogos, busca expandir sua atuação para o mercado educacional com uma plataforma voltada ao ensino fundamental e médio.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desafio central consiste em estruturar um controle sobre assinaturas, limites de consumo e segurança de acesso (IP), visando prevenir o uso indevido do sistema e o excedente de custos operacionais.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1570066" y="21125709"/>
            <a:ext cx="12562800" cy="4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Desenvolvimento de um software de gestão de jogos educativos com foco em segurança de rede e arquitetura em camadas. O sistema utiliza C# e bancos de dados relacionais para controlar acessos escolares, validar IPs e gerenciar assinaturas através de fluxos lógicos e matemáticos.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15617825" y="10880574"/>
            <a:ext cx="11904300" cy="11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primeira fase do projeto resultou na validação lógica e estatística do sistema de segurança e acesso na aplicação.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​	Validação Algorítmica: Implementação de um fluxo de CRUD (Create, Read, Update, Delete) estável para a gestão do catálogo de jogos, garantindo a integridade dos dados escolares.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​	Segurança Lógica: Definição da regra de negócio através de Tabelas-Verdade, estabelecendo que o acesso só é concedido sob a condição crítica, eliminando falhas de permissão manual.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Confiabilidade de Rede: O acesso será permitido se o IP da instituição for validado, garantindo a segurança do sistema.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Infraestrutura: Modelagem de Banco de Dados (DER) normalizada e pronta para integração com C# e SQLite, suportando o crescimento da base de clientes.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