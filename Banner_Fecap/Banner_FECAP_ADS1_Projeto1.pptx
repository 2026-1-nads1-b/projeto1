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3200625" cx="28800425"/>
  <p:notesSz cx="6858000" cy="9144000"/>
  <p:embeddedFontLst>
    <p:embeddedFont>
      <p:font typeface="Open Sans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366" orient="horz"/>
        <p:guide pos="548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OpenSans-boldItalic.fntdata"/><Relationship Id="rId9" Type="http://schemas.openxmlformats.org/officeDocument/2006/relationships/font" Target="fonts/Open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OpenSans-regular.fntdata"/><Relationship Id="rId8" Type="http://schemas.openxmlformats.org/officeDocument/2006/relationships/font" Target="fonts/OpenSans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b="1" sz="7623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indent="-567436" lvl="1" marL="9144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indent="-519049" lvl="2" marL="1371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indent="-470599" lvl="3" marL="1828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indent="-470598" lvl="4" marL="22860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indent="-470598" lvl="5" marL="2743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indent="-470598" lvl="6" marL="3200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indent="-470598" lvl="7" marL="3657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indent="-470598" lvl="8" marL="4114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b="0" i="0" sz="838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marR="0" rtl="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b="0" i="0" sz="60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567436" lvl="1" marL="914400" marR="0" rtl="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b="0" i="0" sz="5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519049" lvl="2" marL="1371600" marR="0" rtl="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b="0" i="0" sz="4574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70599" lvl="3" marL="1828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70598" lvl="4" marL="22860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70598" lvl="5" marL="27432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70598" lvl="6" marL="3200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70598" lvl="7" marL="36576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70598" lvl="8" marL="4114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4F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3"/>
            <p:cNvSpPr/>
            <p:nvPr/>
          </p:nvSpPr>
          <p:spPr>
            <a:xfrm>
              <a:off x="0" y="0"/>
              <a:ext cx="3032124" cy="607578"/>
            </a:xfrm>
            <a:custGeom>
              <a:rect b="b" l="l" r="r" t="t"/>
              <a:pathLst>
                <a:path extrusionOk="0" h="607578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3"/>
          <p:cNvSpPr/>
          <p:nvPr/>
        </p:nvSpPr>
        <p:spPr>
          <a:xfrm>
            <a:off x="3163237" y="34829695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3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3"/>
            <p:cNvSpPr/>
            <p:nvPr/>
          </p:nvSpPr>
          <p:spPr>
            <a:xfrm>
              <a:off x="0" y="0"/>
              <a:ext cx="3163653" cy="870076"/>
            </a:xfrm>
            <a:custGeom>
              <a:rect b="b" l="l" r="r" t="t"/>
              <a:pathLst>
                <a:path extrusionOk="0" h="870076" w="3163653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l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3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3"/>
            <p:cNvSpPr/>
            <p:nvPr/>
          </p:nvSpPr>
          <p:spPr>
            <a:xfrm>
              <a:off x="0" y="0"/>
              <a:ext cx="3225442" cy="841941"/>
            </a:xfrm>
            <a:custGeom>
              <a:rect b="b" l="l" r="r" t="t"/>
              <a:pathLst>
                <a:path extrusionOk="0" h="841941" w="3225442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3032124" cy="739677"/>
            </a:xfrm>
            <a:custGeom>
              <a:rect b="b" l="l" r="r" t="t"/>
              <a:pathLst>
                <a:path extrusionOk="0" h="739677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3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3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3"/>
            <p:cNvSpPr/>
            <p:nvPr/>
          </p:nvSpPr>
          <p:spPr>
            <a:xfrm>
              <a:off x="0" y="0"/>
              <a:ext cx="3218728" cy="819899"/>
            </a:xfrm>
            <a:custGeom>
              <a:rect b="b" l="l" r="r" t="t"/>
              <a:pathLst>
                <a:path extrusionOk="0" h="819899" w="3218728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3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3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3"/>
            <p:cNvSpPr/>
            <p:nvPr/>
          </p:nvSpPr>
          <p:spPr>
            <a:xfrm>
              <a:off x="0" y="0"/>
              <a:ext cx="2755436" cy="803341"/>
            </a:xfrm>
            <a:custGeom>
              <a:rect b="b" l="l" r="r" t="t"/>
              <a:pathLst>
                <a:path extrusionOk="0" h="803341" w="2755436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3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3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3"/>
            <p:cNvSpPr/>
            <p:nvPr/>
          </p:nvSpPr>
          <p:spPr>
            <a:xfrm>
              <a:off x="0" y="0"/>
              <a:ext cx="1922704" cy="1176995"/>
            </a:xfrm>
            <a:custGeom>
              <a:rect b="b" l="l" r="r" t="t"/>
              <a:pathLst>
                <a:path extrusionOk="0" h="1176995" w="1922704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3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3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3"/>
            <p:cNvSpPr/>
            <p:nvPr/>
          </p:nvSpPr>
          <p:spPr>
            <a:xfrm>
              <a:off x="0" y="0"/>
              <a:ext cx="1302166" cy="820732"/>
            </a:xfrm>
            <a:custGeom>
              <a:rect b="b" l="l" r="r" t="t"/>
              <a:pathLst>
                <a:path extrusionOk="0" h="820732" w="1302166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3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3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3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3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rect b="b" l="l" r="r" t="t"/>
                <a:pathLst>
                  <a:path extrusionOk="0" h="814469" w="1329056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00000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3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6800" lIns="96800" spcFirstLastPara="1" rIns="96800" wrap="square" tIns="96800">
                <a:noAutofit/>
              </a:bodyPr>
              <a:lstStyle/>
              <a:p>
                <a:pPr indent="0" lvl="0" marL="0" marR="0" rtl="0" algn="ctr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3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b="1" i="0" lang="en-US" sz="476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3"/>
          <p:cNvSpPr/>
          <p:nvPr/>
        </p:nvSpPr>
        <p:spPr>
          <a:xfrm>
            <a:off x="-916543" y="1525353"/>
            <a:ext cx="8571184" cy="2454222"/>
          </a:xfrm>
          <a:custGeom>
            <a:rect b="b" l="l" r="r" t="t"/>
            <a:pathLst>
              <a:path extrusionOk="0" h="1287851" w="4497722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3"/>
          <p:cNvSpPr/>
          <p:nvPr/>
        </p:nvSpPr>
        <p:spPr>
          <a:xfrm>
            <a:off x="3163237" y="-4997460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3"/>
          <p:cNvSpPr/>
          <p:nvPr/>
        </p:nvSpPr>
        <p:spPr>
          <a:xfrm>
            <a:off x="21014306" y="1712017"/>
            <a:ext cx="7228385" cy="2335060"/>
          </a:xfrm>
          <a:custGeom>
            <a:rect b="b" l="l" r="r" t="t"/>
            <a:pathLst>
              <a:path extrusionOk="0" h="1225321" w="3793089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3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b="1" i="0" lang="en-US" sz="507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3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3"/>
            <p:cNvSpPr/>
            <p:nvPr/>
          </p:nvSpPr>
          <p:spPr>
            <a:xfrm>
              <a:off x="0" y="0"/>
              <a:ext cx="958980" cy="1301139"/>
            </a:xfrm>
            <a:custGeom>
              <a:rect b="b" l="l" r="r" t="t"/>
              <a:pathLst>
                <a:path extrusionOk="0" h="1301139" w="95898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3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3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2" name="Google Shape;122;p13"/>
            <p:cNvSpPr/>
            <p:nvPr/>
          </p:nvSpPr>
          <p:spPr>
            <a:xfrm>
              <a:off x="0" y="0"/>
              <a:ext cx="936167" cy="1301139"/>
            </a:xfrm>
            <a:custGeom>
              <a:rect b="b" l="l" r="r" t="t"/>
              <a:pathLst>
                <a:path extrusionOk="0" h="1301139" w="936167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3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3"/>
          <p:cNvSpPr/>
          <p:nvPr/>
        </p:nvSpPr>
        <p:spPr>
          <a:xfrm>
            <a:off x="22527251" y="36801439"/>
            <a:ext cx="5609093" cy="5642282"/>
          </a:xfrm>
          <a:custGeom>
            <a:rect b="b" l="l" r="r" t="t"/>
            <a:pathLst>
              <a:path extrusionOk="0" h="2960783" w="2943367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3"/>
          <p:cNvSpPr txBox="1"/>
          <p:nvPr/>
        </p:nvSpPr>
        <p:spPr>
          <a:xfrm>
            <a:off x="-1" y="4700167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b="1" i="0" lang="en-US" sz="11434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b="1" lang="en-US" sz="11434">
                <a:latin typeface="Open Sans"/>
                <a:ea typeface="Open Sans"/>
                <a:cs typeface="Open Sans"/>
                <a:sym typeface="Open Sans"/>
              </a:rPr>
              <a:t>rojeto Messier Data &amp; Creative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927175" y="6355575"/>
            <a:ext cx="26859300" cy="17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Lucas Kazuo</a:t>
            </a: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Henrique Bezerra</a:t>
            </a: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Pedro H Barros</a:t>
            </a: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Vitor Ordonis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Katia Bossi, Francisco </a:t>
            </a: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Escobar, Robsom, Renata Muniz, Marcelo Amorim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 txBox="1"/>
          <p:nvPr/>
        </p:nvSpPr>
        <p:spPr>
          <a:xfrm>
            <a:off x="15353293" y="23110704"/>
            <a:ext cx="1243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3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3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3"/>
          <p:cNvSpPr txBox="1"/>
          <p:nvPr/>
        </p:nvSpPr>
        <p:spPr>
          <a:xfrm>
            <a:off x="15966975" y="31719851"/>
            <a:ext cx="11400000" cy="20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Referência: MICROSOFT. Documentação do .NET: C#, F# e Visual Basic. Disponível em: https://learn.microsoft.com/pt-br/dotnet/.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3"/>
          <p:cNvSpPr txBox="1"/>
          <p:nvPr/>
        </p:nvSpPr>
        <p:spPr>
          <a:xfrm>
            <a:off x="1595875" y="31719850"/>
            <a:ext cx="12562800" cy="66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84505" lvl="0" marL="45720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4030"/>
              <a:buFont typeface="Open Sans"/>
              <a:buChar char="-"/>
            </a:pPr>
            <a:r>
              <a:rPr lang="en-US" sz="4030">
                <a:latin typeface="Open Sans"/>
                <a:ea typeface="Open Sans"/>
                <a:cs typeface="Open Sans"/>
                <a:sym typeface="Open Sans"/>
              </a:rPr>
              <a:t>Linguagem/Plataforma: C# (.NET);</a:t>
            </a:r>
            <a:endParaRPr sz="4030">
              <a:latin typeface="Open Sans"/>
              <a:ea typeface="Open Sans"/>
              <a:cs typeface="Open Sans"/>
              <a:sym typeface="Open Sans"/>
            </a:endParaRPr>
          </a:p>
          <a:p>
            <a:pPr indent="-484505" lvl="0" marL="45720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4030"/>
              <a:buFont typeface="Open Sans"/>
              <a:buChar char="-"/>
            </a:pPr>
            <a:r>
              <a:rPr lang="en-US" sz="4030">
                <a:latin typeface="Open Sans"/>
                <a:ea typeface="Open Sans"/>
                <a:cs typeface="Open Sans"/>
                <a:sym typeface="Open Sans"/>
              </a:rPr>
              <a:t>Interface Desktop: WinForms;</a:t>
            </a:r>
            <a:endParaRPr sz="4030">
              <a:latin typeface="Open Sans"/>
              <a:ea typeface="Open Sans"/>
              <a:cs typeface="Open Sans"/>
              <a:sym typeface="Open Sans"/>
            </a:endParaRPr>
          </a:p>
          <a:p>
            <a:pPr indent="-484505" lvl="0" marL="45720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4030"/>
              <a:buFont typeface="Open Sans"/>
              <a:buChar char="-"/>
            </a:pPr>
            <a:r>
              <a:rPr lang="en-US" sz="4030">
                <a:latin typeface="Open Sans"/>
                <a:ea typeface="Open Sans"/>
                <a:cs typeface="Open Sans"/>
                <a:sym typeface="Open Sans"/>
              </a:rPr>
              <a:t>Banco de Dados: SQLite;</a:t>
            </a:r>
            <a:endParaRPr sz="4030">
              <a:latin typeface="Open Sans"/>
              <a:ea typeface="Open Sans"/>
              <a:cs typeface="Open Sans"/>
              <a:sym typeface="Open Sans"/>
            </a:endParaRPr>
          </a:p>
          <a:p>
            <a:pPr indent="-484505" lvl="0" marL="45720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4030"/>
              <a:buFont typeface="Open Sans"/>
              <a:buChar char="-"/>
            </a:pPr>
            <a:r>
              <a:rPr lang="en-US" sz="4030">
                <a:latin typeface="Open Sans"/>
                <a:ea typeface="Open Sans"/>
                <a:cs typeface="Open Sans"/>
                <a:sym typeface="Open Sans"/>
              </a:rPr>
              <a:t>Acesso a dados: ADO.NET;</a:t>
            </a:r>
            <a:endParaRPr sz="4030">
              <a:latin typeface="Open Sans"/>
              <a:ea typeface="Open Sans"/>
              <a:cs typeface="Open Sans"/>
              <a:sym typeface="Open Sans"/>
            </a:endParaRPr>
          </a:p>
          <a:p>
            <a:pPr indent="-484505" lvl="0" marL="45720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4030"/>
              <a:buFont typeface="Open Sans"/>
              <a:buChar char="-"/>
            </a:pPr>
            <a:r>
              <a:rPr lang="en-US" sz="4030">
                <a:latin typeface="Open Sans"/>
                <a:ea typeface="Open Sans"/>
                <a:cs typeface="Open Sans"/>
                <a:sym typeface="Open Sans"/>
              </a:rPr>
              <a:t>Ferramentas de Modelagem: Draw.io;</a:t>
            </a:r>
            <a:endParaRPr sz="4030">
              <a:latin typeface="Open Sans"/>
              <a:ea typeface="Open Sans"/>
              <a:cs typeface="Open Sans"/>
              <a:sym typeface="Open Sans"/>
            </a:endParaRPr>
          </a:p>
          <a:p>
            <a:pPr indent="-484505" lvl="0" marL="45720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4030"/>
              <a:buFont typeface="Open Sans"/>
              <a:buChar char="-"/>
            </a:pPr>
            <a:r>
              <a:rPr lang="en-US" sz="4030">
                <a:latin typeface="Open Sans"/>
                <a:ea typeface="Open Sans"/>
                <a:cs typeface="Open Sans"/>
                <a:sym typeface="Open Sans"/>
              </a:rPr>
              <a:t>Controle de Versão: Github;</a:t>
            </a:r>
            <a:endParaRPr sz="4030">
              <a:latin typeface="Open Sans"/>
              <a:ea typeface="Open Sans"/>
              <a:cs typeface="Open Sans"/>
              <a:sym typeface="Open Sans"/>
            </a:endParaRPr>
          </a:p>
          <a:p>
            <a:pPr indent="-484505" lvl="0" marL="45720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4030"/>
              <a:buFont typeface="Open Sans"/>
              <a:buChar char="-"/>
            </a:pPr>
            <a:r>
              <a:rPr lang="en-US" sz="4030">
                <a:latin typeface="Open Sans"/>
                <a:ea typeface="Open Sans"/>
                <a:cs typeface="Open Sans"/>
                <a:sym typeface="Open Sans"/>
              </a:rPr>
              <a:t>Prototipação de interface: Figma, Canva;</a:t>
            </a:r>
            <a:endParaRPr sz="40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3"/>
          <p:cNvSpPr txBox="1"/>
          <p:nvPr/>
        </p:nvSpPr>
        <p:spPr>
          <a:xfrm>
            <a:off x="1595870" y="10749184"/>
            <a:ext cx="12562800" cy="71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45720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Messier Data &amp; Creative, empresa de desenvolvimento de jogos, busca expandir sua atuação para o mercado educacional com uma plataforma voltada ao ensino fundamental e médio.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45720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desafio central consiste em estruturar um controle sobre assinaturas, limites de consumo e segurança de acesso (IP), visando prevenir o uso indevido do sistema e o excedente de custos operacionais.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343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3"/>
          <p:cNvSpPr txBox="1"/>
          <p:nvPr/>
        </p:nvSpPr>
        <p:spPr>
          <a:xfrm>
            <a:off x="1570066" y="21125709"/>
            <a:ext cx="12562800" cy="42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Desenvolvimento de um software de gestão de jogos educativos com foco em segurança de rede e arquitetura em camadas. O sistema utiliza C# e bancos de dados relacionais para controlar acessos escolares, validar IPs e gerenciar assinaturas através de fluxos lógicos e matemáticos.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343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3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1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0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>
            <a:off x="15617825" y="10880574"/>
            <a:ext cx="11904300" cy="116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45720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primeira fase do projeto resultou na validação lógica e estatística do sistema de segurança e acesso na aplicação.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​	Validação Algorítmica: Implementação de um fluxo de CRUD (Create, Read, Update, Delete) estável para a gestão do catálogo de jogos, garantindo a integridade dos dados escolares.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​	Segurança Lógica: Definição da regra de negócio através de Tabelas-Verdade, estabelecendo que o acesso só é concedido sob a condição crítica, eliminando falhas de permissão manual.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45720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Confiabilidade de Rede: O acesso será permitido se o IP da instituição for validado, garantindo a segurança do sistema.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45720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Infraestrutura: Modelagem de Banco de Dados (DER) normalizada e pronta para integração com C# e SQLite, suportando o crescimento da base de clientes.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